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ver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65760"/>
            <a:ext cx="1076960" cy="822960"/>
          </a:xfrm>
          <a:prstGeom prst="rect">
            <a:avLst/>
          </a:prstGeom>
        </p:spPr>
      </p:pic>
      <p:pic>
        <p:nvPicPr>
          <p:cNvPr id="4" name="Picture 3" descr="facul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365760"/>
            <a:ext cx="822960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0" y="365760"/>
            <a:ext cx="76196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E293B"/>
                </a:solidFill>
                <a:latin typeface="Arial"/>
              </a:defRPr>
            </a:pPr>
            <a:r>
              <a:t>Université Sultan Moulay Slimane</a:t>
            </a:r>
            <a:br/>
            <a:r>
              <a:t>Faculté Polydisciplinaire de Béni Mellal</a:t>
            </a:r>
            <a:br/>
            <a:r>
              <a:t>Département de Mathématiques et Informatique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1371600"/>
            <a:ext cx="8899855" cy="384048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66CC"/>
                </a:solidFill>
                <a:latin typeface="Arial"/>
              </a:defRPr>
            </a:pPr>
            <a:r>
              <a:t>PROJET DE FIN D'ÉTUDES · MASTER DATA SCIENCE ET SÉCURITÉ DES SYSTÈMES D'INFORMATION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10362895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057400"/>
            <a:ext cx="999713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A2540"/>
                </a:solidFill>
                <a:latin typeface="Arial"/>
              </a:defRPr>
            </a:pPr>
            <a:r>
              <a:t>Solution Intelligente Logistique Portuaire</a:t>
            </a:r>
          </a:p>
          <a:p>
            <a:pPr algn="ctr">
              <a:spcBef>
                <a:spcPts val="1200"/>
              </a:spcBef>
              <a:defRPr sz="1600" b="1">
                <a:solidFill>
                  <a:srgbClr val="0066CC"/>
                </a:solidFill>
                <a:latin typeface="Arial"/>
              </a:defRPr>
            </a:pPr>
            <a:r>
              <a:t>Automatisation de la Gestion des Conteneurs par IA pour Marsa Maroc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293B"/>
                </a:solidFill>
                <a:latin typeface="Arial"/>
              </a:defRPr>
            </a:pPr>
            <a:r>
              <a:t>Présenté par :  FAJRI Youssef                      Sous la direction de :  Pr. KICH Ismail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4892040"/>
            <a:ext cx="7619695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mars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5074920"/>
            <a:ext cx="777240" cy="777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0" y="5074920"/>
            <a:ext cx="5486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A2540"/>
                </a:solidFill>
                <a:latin typeface="Arial"/>
              </a:defRPr>
            </a:pPr>
            <a:r>
              <a:t>Organisme d'accueil : Marsa Maroc</a:t>
            </a:r>
          </a:p>
          <a:p>
            <a:pPr>
              <a:defRPr sz="1200">
                <a:solidFill>
                  <a:srgbClr val="1E293B"/>
                </a:solidFill>
                <a:latin typeface="Arial"/>
              </a:defRPr>
            </a:pPr>
            <a:r>
              <a:t>Encadrant professionnel : M. Mohamed QODSI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722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Arial"/>
              </a:defRPr>
            </a:pPr>
            <a:r>
              <a:t>Devant le Jury : Pr. KICH Ismail, Pr. Jury 2, Pr. Jury 3  ·  Année Universitaire 2025 – 2026</a:t>
            </a:r>
          </a:p>
        </p:txBody>
      </p:sp>
    </p:spTree>
  </p:cSld>
  <p:clrMapOvr>
    <a:masterClrMapping/>
  </p:clrMapOvr>
  <p:transition spee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SOMMAIRE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Arial"/>
              </a:defRPr>
            </a:pPr>
            <a:r>
              <a:t>Plan de la Présentation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4572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m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1874519"/>
            <a:ext cx="731520" cy="7315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78308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Arial"/>
              </a:defRPr>
            </a:pPr>
            <a:r>
              <a:t>Contexte &amp; Problématique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Enjeux logistiques, Marsa Maroc et analyse SWOT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0020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60020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1874519"/>
            <a:ext cx="731520" cy="7315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178308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Arial"/>
              </a:defRPr>
            </a:pPr>
            <a:r>
              <a:t>État de l'Art &amp; Mathématiques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Convolution 2D, YOLOv8, OCR CRAFT/CRNN, Recuit Simulé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1752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01752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3291839"/>
            <a:ext cx="731520" cy="7315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2004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Arial"/>
              </a:defRPr>
            </a:pPr>
            <a:r>
              <a:t>Architecture &amp; Conception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Microservices Apache Kafka, Flask REST, PostgreSQL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01752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01752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46520" y="3291839"/>
            <a:ext cx="731520" cy="7315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2004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Arial"/>
              </a:defRPr>
            </a:pPr>
            <a:r>
              <a:t>Implémentation &amp; Algorithmes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Segment-and-Stitch, Early Exit, Backpressure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3484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43484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" y="4709159"/>
            <a:ext cx="731520" cy="7315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61772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Arial"/>
              </a:defRPr>
            </a:pPr>
            <a:r>
              <a:t>Résultats &amp; Évaluations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Précision mAP 96.1%, OCR 85%, Re-handling ≤ 12%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434840"/>
            <a:ext cx="5212080" cy="1280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443484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46520" y="4709159"/>
            <a:ext cx="731520" cy="7315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61772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  <a:latin typeface="Arial"/>
              </a:defRPr>
            </a:pPr>
            <a:r>
              <a:t>Conclusion &amp; Perspectives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  <a:latin typeface="Arial"/>
              </a:defRPr>
            </a:pPr>
            <a:r>
              <a:t>Synthèse opérationnelle et roadmap Smart Port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629107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Soutenance PFE — Master D3SI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0" y="6291072"/>
            <a:ext cx="1039367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Contexte &amp; Problématique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6740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État de l'Art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7992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Architecture &amp; Conception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4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Implémentation &amp; Algorithmes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0496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Résultats &amp; Évaluations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174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Conclusion &amp; Perspectives</a:t>
            </a:r>
          </a:p>
        </p:txBody>
      </p:sp>
    </p:spTree>
  </p:cSld>
  <p:clrMapOvr>
    <a:masterClrMapping/>
  </p:clrMapOvr>
  <p:transition spee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1 · CONTEXTE &amp;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Arial"/>
              </a:defRPr>
            </a:pPr>
            <a:r>
              <a:t>Contexte : Marsa Maroc &amp; Flux Logistique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4572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m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Leader National de l'Exploitation Portuaire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Réseau Majeur : Management des terminaux portuaires sur 9 ports stratégiques du Royaume.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Enjeu Stratégique : Réduction du temps d'escale des navires et optimisation de la manutention.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600200"/>
            <a:ext cx="521208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Le Transit du Conteneur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Étape Quai (STS) : Déchargement et identification des conteneurs ISO 6346 sous le portique STS.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Étape Yard (Parc) : Transfert et gerbage temporaire par portiques de parc RTG (Rubber Tyred Gantry).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532120"/>
            <a:ext cx="9997135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1">
                <a:solidFill>
                  <a:srgbClr val="0A2540"/>
                </a:solidFill>
                <a:latin typeface="Arial"/>
              </a:defRPr>
            </a:pPr>
            <a:r>
              <a:t>Un leader portuaire national au cœur des échanges internationaux.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29107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Soutenance PFE — Master D3SI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6291072"/>
            <a:ext cx="1039367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Contexte &amp; Problématique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740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État de l'Art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992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Architecture &amp; Conception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Implémentation &amp; Algorithmes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496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Résultats &amp; Évaluations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74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Conclusion &amp; Perspectives</a:t>
            </a:r>
          </a:p>
        </p:txBody>
      </p:sp>
    </p:spTree>
  </p:cSld>
  <p:clrMapOvr>
    <a:masterClrMapping/>
  </p:clrMapOvr>
  <p:transition spee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1 · CONTEXTE &amp;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Arial"/>
              </a:defRPr>
            </a:pPr>
            <a:r>
              <a:t>Problématiques : Saisie Manuelle &amp; Re-handling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4572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m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212080" cy="7315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123C"/>
                </a:solidFill>
              </a:defRPr>
            </a:pPr>
            <a:r>
              <a:t>Pointage Manuel au Quai (STS)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Saisie manuelle visuelle par des agents pointeurs sous les portiques STS.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4,8% d'erreurs logiques observées, fatigue des agents et ralentissement des flux.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343400"/>
            <a:ext cx="4846320" cy="68580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E123C"/>
                </a:solidFill>
              </a:defRPr>
            </a:pPr>
            <a:r>
              <a:t>4,8% d'erreurs logiques observées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00200"/>
            <a:ext cx="52120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0975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45309"/>
                </a:solidFill>
              </a:defRPr>
            </a:pPr>
            <a:r>
              <a:t>Congestion &amp; Re-handling au Parc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Placement non optimisé (ex: conteneur urgent bloqué sous d'autres boîtes).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Taux élevé de double manipulation (39,5% observé à Casablanca), surconsommation et retards.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0975" y="4343400"/>
            <a:ext cx="4846320" cy="685800"/>
          </a:xfrm>
          <a:prstGeom prst="roundRect">
            <a:avLst/>
          </a:prstGeom>
          <a:solidFill>
            <a:srgbClr val="FEF3C7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B45309"/>
                </a:solidFill>
              </a:defRPr>
            </a:pPr>
            <a:r>
              <a:t>39,5% de taux de re-handling au Yard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532120"/>
            <a:ext cx="9997135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1">
                <a:solidFill>
                  <a:srgbClr val="0A2540"/>
                </a:solidFill>
                <a:latin typeface="Arial"/>
              </a:defRPr>
            </a:pPr>
            <a:r>
              <a:t>Des inefficacités opérationnelles impactant le coût et le temps d'escale.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9107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Soutenance PFE — Master D3SI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6291072"/>
            <a:ext cx="1039367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Contexte &amp; Problématique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740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État de l'Art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992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Architecture &amp; Conception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Implémentation &amp; Algorithmes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496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Résultats &amp; Évaluations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74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Conclusion &amp; Perspectives</a:t>
            </a:r>
          </a:p>
        </p:txBody>
      </p:sp>
    </p:spTree>
  </p:cSld>
  <p:clrMapOvr>
    <a:masterClrMapping/>
  </p:clrMapOvr>
  <p:transition spee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1 · CONTEXTE &amp;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Arial"/>
              </a:defRPr>
            </a:pPr>
            <a:r>
              <a:t>Analyse Stratégique : SWOT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4572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m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521208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21208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3736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766E"/>
                </a:solidFill>
              </a:defRPr>
            </a:pPr>
            <a:r>
              <a:t>Forces (Strengths)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Automatisation du pointage STS (gain de temps).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Algorithmes d'optimisation temps réel robustes.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Jumeau Numérique 3D pour la supervision.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600200"/>
            <a:ext cx="521208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600200"/>
            <a:ext cx="5212080" cy="7315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173736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E123C"/>
                </a:solidFill>
              </a:defRPr>
            </a:pPr>
            <a:r>
              <a:t>Faiblesses (Weaknesses)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Dépendance à la qualité de la capture vidéo.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Sensibilité au calibrage des paramètres du recuit.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521208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56616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</a:defRPr>
            </a:pPr>
            <a:r>
              <a:t>Opportunités (Opportunities)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Intégration au TOS (Terminal Operating System).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Modernisation technologique de Marsa Maroc.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Déploiement Edge (Jetson) sur portiques.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48095" y="3566160"/>
            <a:ext cx="521208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48095" y="3566160"/>
            <a:ext cx="5212080" cy="7315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0975" y="3703320"/>
            <a:ext cx="48463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5309"/>
                </a:solidFill>
              </a:defRPr>
            </a:pPr>
            <a:r>
              <a:t>Menaces (Threats)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Coûts de maintenance du matériel IA et IoT.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</a:defRPr>
            </a:pPr>
            <a:r>
              <a:t>• Vulnérabilités de cybersécurité (flux Kafka/API).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29107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Soutenance PFE — Master D3SI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6291072"/>
            <a:ext cx="1039367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Contexte &amp; Problématique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6740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État de l'Art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992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Architecture &amp; Conception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Implémentation &amp; Algorithmes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496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Résultats &amp; Évaluations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74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Conclusion &amp; Perspectives</a:t>
            </a:r>
          </a:p>
        </p:txBody>
      </p:sp>
    </p:spTree>
  </p:cSld>
  <p:clrMapOvr>
    <a:masterClrMapping/>
  </p:clrMapOvr>
  <p:transition spee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1 · CONTEXTE &amp; 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Arial"/>
              </a:defRPr>
            </a:pPr>
            <a:r>
              <a:t>Objectifs &amp; Solution Proposée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4572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m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1. Vision par Ordinateur &amp; Traitement IA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Détecter les conteneurs et les plaques matricules ISO via le modèle YOLOv8.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Transcrire automatiquement les identifiants par un pipeline EasyOCR optimisé.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600200"/>
            <a:ext cx="521208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2. Optimisation &amp; Aide à la Décision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Moteur combinatoire (Recuit Simulé) pour l'allocation optimale en Yard.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Dashboard avec Jumeau Numérique 3D (Three.js) et reporting automatique.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532120"/>
            <a:ext cx="9997135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1">
                <a:solidFill>
                  <a:srgbClr val="0A2540"/>
                </a:solidFill>
                <a:latin typeface="Arial"/>
              </a:defRPr>
            </a:pPr>
            <a:r>
              <a:t>Une plateforme intelligente intégrée pour automatiser le pointage et optimiser le placement.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29107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Soutenance PFE — Master D3SI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6291072"/>
            <a:ext cx="1039367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Contexte &amp; Problématique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740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État de l'Art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992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Architecture &amp; Conception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Implémentation &amp; Algorithmes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496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Résultats &amp; Évaluations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74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Conclusion &amp; Perspectives</a:t>
            </a:r>
          </a:p>
        </p:txBody>
      </p:sp>
    </p:spTree>
  </p:cSld>
  <p:clrMapOvr>
    <a:masterClrMapping/>
  </p:clrMapOvr>
  <p:transition spee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2 · ÉTAT DE L'ART &amp; MATHÉMATIQUES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Arial"/>
              </a:defRPr>
            </a:pPr>
            <a:r>
              <a:t>Détection : YOLOv8 &amp; CNN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4572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m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Extraction de Caractéristiques Spatiales (CNN)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Les réseaux de neurones convolutifs extraient des motifs via la convolution 2D 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017520"/>
            <a:ext cx="4846320" cy="10058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2540"/>
                </a:solidFill>
                <a:latin typeface="Arial"/>
              </a:defRPr>
            </a:pPr>
            <a:r>
              <a:t>S(i, j) = (I * K)(i, j) = ∑ ∑ I(i-m, j-n) K(m, 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8095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8095" y="1600200"/>
            <a:ext cx="521208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0975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66CC"/>
                </a:solidFill>
              </a:defRPr>
            </a:pPr>
            <a:r>
              <a:t>Détecteur YOLOv8 (Single-Stage)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Backbone &amp; Neck : CSPDarknet et PANet extrayant et fusionnant les cartes de features multi-échelles.</a:t>
            </a:r>
          </a:p>
          <a:p>
            <a:pPr>
              <a:spcBef>
                <a:spcPts val="1200"/>
              </a:spcBef>
              <a:defRPr sz="1250">
                <a:solidFill>
                  <a:srgbClr val="1E293B"/>
                </a:solidFill>
              </a:defRPr>
            </a:pPr>
            <a:r>
              <a:t>• Head Découplée : Prédiction de classe et régression de boîte englobante Anchor-Free.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532120"/>
            <a:ext cx="9997135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1">
                <a:solidFill>
                  <a:srgbClr val="0A2540"/>
                </a:solidFill>
                <a:latin typeface="Arial"/>
              </a:defRPr>
            </a:pPr>
            <a:r>
              <a:t>L'extraction et la localisation rapide des conteneurs en une seule passe.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29107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Soutenance PFE — Master D3SI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Contexte &amp; Problématique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67400" y="6291072"/>
            <a:ext cx="1039367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État de l'Art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992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Architecture &amp; Conception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Implémentation &amp; Algorithmes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496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Résultats &amp; Évaluations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74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Conclusion &amp; Perspectives</a:t>
            </a:r>
          </a:p>
        </p:txBody>
      </p:sp>
    </p:spTree>
  </p:cSld>
  <p:clrMapOvr>
    <a:masterClrMapping/>
  </p:clrMapOvr>
  <p:transition spee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2 · ÉTAT DE L'ART &amp; MATHÉMATIQUES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Arial"/>
              </a:defRPr>
            </a:pPr>
            <a:r>
              <a:t>Mathématiques : Détection YOLOv8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4572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m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521208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916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2540"/>
                </a:solidFill>
              </a:defRPr>
            </a:pPr>
            <a:r>
              <a:t>Activation SiLU</a:t>
            </a:r>
          </a:p>
          <a:p>
            <a:pPr>
              <a:spcBef>
                <a:spcPts val="400"/>
              </a:spcBef>
              <a:defRPr sz="1300" b="1">
                <a:latin typeface="Arial"/>
              </a:defRPr>
            </a:pPr>
            <a:r>
              <a:t>SiLU(x) = x · σ(x) = x / (1 + e^-x)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Dérivable partout, éliminant les limites du gradient mourant (ReLU).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600200"/>
            <a:ext cx="521208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600200"/>
            <a:ext cx="521208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169164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66CC"/>
                </a:solidFill>
              </a:defRPr>
            </a:pPr>
            <a:r>
              <a:t>Perte CIoU (Complete IoU)</a:t>
            </a:r>
          </a:p>
          <a:p>
            <a:pPr>
              <a:spcBef>
                <a:spcPts val="400"/>
              </a:spcBef>
              <a:defRPr sz="1300" b="1">
                <a:latin typeface="Arial"/>
              </a:defRPr>
            </a:pPr>
            <a:r>
              <a:t>L_CIoU = 1 - IoU + (ρ^2 / c^2) + α·v</a:t>
            </a:r>
          </a:p>
          <a:p>
            <a:pPr>
              <a:spcBef>
                <a:spcPts val="400"/>
              </a:spcBef>
              <a:defRPr sz="1100">
                <a:solidFill>
                  <a:srgbClr val="64748B"/>
                </a:solidFill>
              </a:defRPr>
            </a:pPr>
            <a:r>
              <a:t>Pénalise la distance des centres, l'IoU et le ratio d'aspect des boîtes.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20440"/>
            <a:ext cx="10728655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520440"/>
            <a:ext cx="10728655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103628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2540"/>
                </a:solidFill>
              </a:defRPr>
            </a:pPr>
            <a:r>
              <a:t>Perte DFL (Distribution Focal Loss)</a:t>
            </a:r>
          </a:p>
          <a:p>
            <a:pPr>
              <a:spcBef>
                <a:spcPts val="600"/>
              </a:spcBef>
              <a:defRPr sz="1350" b="1">
                <a:latin typeface="Arial"/>
              </a:defRPr>
            </a:pPr>
            <a:r>
              <a:t>L_DFL(Si, Si+1) = - [ (y_{i+1} - y) log Si + (y - y_i) log S_{i+1} ]</a:t>
            </a:r>
          </a:p>
          <a:p>
            <a:pPr>
              <a:spcBef>
                <a:spcPts val="600"/>
              </a:spcBef>
              <a:defRPr sz="1150">
                <a:solidFill>
                  <a:srgbClr val="64748B"/>
                </a:solidFill>
              </a:defRPr>
            </a:pPr>
            <a:r>
              <a:t>Modélise de façon continue la distribution des frontières floues de détection.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629107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Soutenance PFE — Master D3SI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Contexte &amp; Problématique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67400" y="6291072"/>
            <a:ext cx="1039367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État de l'Art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992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Architecture &amp; Conception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Implémentation &amp; Algorithmes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496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Résultats &amp; Évaluations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174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Conclusion &amp; Perspectives</a:t>
            </a:r>
          </a:p>
        </p:txBody>
      </p:sp>
    </p:spTree>
  </p:cSld>
  <p:clrMapOvr>
    <a:masterClrMapping/>
  </p:clrMapOvr>
  <p:transition spee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2 · ÉTAT DE L'ART &amp; MATHÉMATIQUES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Arial"/>
              </a:defRPr>
            </a:pPr>
            <a:r>
              <a:t>Reconnaissance : OCR CRAFT &amp; CRNN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4572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m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1. Détection de Textes (CRAFT)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Localise les caractères individuellement (Region Score) et analyse les liaisons de mots (Affinity Score).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Idéal pour les conteneurs où l'espacement et l'orientation des caractères varient grandement.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600200"/>
            <a:ext cx="521208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2. Transcription (CRNN)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CNN : Extrait les caractéristiques de l'image textuelle.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Bi-LSTM : Modélise la séquence chronologique et prédit la probabilité de chaque lettre.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532120"/>
            <a:ext cx="9997135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1">
                <a:solidFill>
                  <a:srgbClr val="0A2540"/>
                </a:solidFill>
                <a:latin typeface="Arial"/>
              </a:defRPr>
            </a:pPr>
            <a:r>
              <a:t>La localisation et l'analyse séquentielle du matricule de conteneur.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29107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Soutenance PFE — Master D3SI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Contexte &amp; Problématique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67400" y="6291072"/>
            <a:ext cx="1039367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État de l'Art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992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Architecture &amp; Conception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Implémentation &amp; Algorithmes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496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Résultats &amp; Évaluations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74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Conclusion &amp; Perspectives</a:t>
            </a:r>
          </a:p>
        </p:txBody>
      </p:sp>
    </p:spTree>
  </p:cSld>
  <p:clrMapOvr>
    <a:masterClrMapping/>
  </p:clrMapOvr>
  <p:transition spee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2 · ÉTAT DE L'ART &amp; MATHÉMATIQUES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Arial"/>
              </a:defRPr>
            </a:pPr>
            <a:r>
              <a:t>Décodage CTC (Connectionist Temporal Classification)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4572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m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Alignement Séquentiel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Évite l'alignement manuel fastidieux image-caractère.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Le réseau analyse de courtes tranches d'image, produisant des doublons temporels et des blancs (ε).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600200"/>
            <a:ext cx="521208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Règles de Décodage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1. Fusionner les caractères consécutifs identiques.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2. Éliminer les blancs ε.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30975" y="4114800"/>
            <a:ext cx="484632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2540"/>
                </a:solidFill>
                <a:latin typeface="Arial"/>
              </a:defRPr>
            </a:pPr>
            <a:r>
              <a:t>M-S-S-C-U-U-ε   ➜   M-S-C-U   ➜   "MSCU"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5532120"/>
            <a:ext cx="9997135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1">
                <a:solidFill>
                  <a:srgbClr val="0A2540"/>
                </a:solidFill>
                <a:latin typeface="Arial"/>
              </a:defRPr>
            </a:pPr>
            <a:r>
              <a:t>Le décodage robuste des duplications temporelles sans alignement manuel.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29107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Soutenance PFE — Master D3SI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Contexte &amp; Problématique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67400" y="6291072"/>
            <a:ext cx="1039367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État de l'Art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992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Architecture &amp; Conception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Implémentation &amp; Algorithmes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496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Résultats &amp; Évaluations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174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Conclusion &amp; Perspectives</a:t>
            </a:r>
          </a:p>
        </p:txBody>
      </p:sp>
    </p:spTree>
  </p:cSld>
  <p:clrMapOvr>
    <a:masterClrMapping/>
  </p:clrMapOvr>
  <p:transition spee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2 · ÉTAT DE L'ART &amp; MATHÉMATIQUES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Arial"/>
              </a:defRPr>
            </a:pPr>
            <a:r>
              <a:t>Optimisation : Stacking &amp; Recuit Simulé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4572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m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Règles Métier de Placement (Yard)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EDD (Earliest Due Date) : Le conteneur du dessus doit partir avant celui du dessous : D(c_new) ≥ D(c_top).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Stabilité : Le conteneur du dessus doit être plus léger : W(c_new) ≤ W(c_top).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600200"/>
            <a:ext cx="521208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Recuit Simulé (Metropolis)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Résout le problème NP-difficile d'allocation en minimisant E(s).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Critère de Metropolis : P(acceptation) = exp(-ΔE / T). Acceptation d'une moins bonne transition.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532120"/>
            <a:ext cx="9997135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1">
                <a:solidFill>
                  <a:srgbClr val="0A2540"/>
                </a:solidFill>
                <a:latin typeface="Arial"/>
              </a:defRPr>
            </a:pPr>
            <a:r>
              <a:t>L'ordonnancement optimal du placement sous contraintes physiques.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29107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Soutenance PFE — Master D3SI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Contexte &amp; Problématique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67400" y="6291072"/>
            <a:ext cx="1039367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État de l'Art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992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Architecture &amp; Conception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Implémentation &amp; Algorithmes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496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Résultats &amp; Évaluations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74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Conclusion &amp; Perspectives</a:t>
            </a:r>
          </a:p>
        </p:txBody>
      </p:sp>
    </p:spTree>
  </p:cSld>
  <p:clrMapOvr>
    <a:masterClrMapping/>
  </p:clrMapOvr>
  <p:transition spee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2 · ÉTAT DE L'ART &amp; MATHÉMATIQUES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Arial"/>
              </a:defRPr>
            </a:pPr>
            <a:r>
              <a:t>Schéma &amp; Calibrage du Recuit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4572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m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Refroidissement Géométrique</a:t>
            </a:r>
          </a:p>
          <a:p>
            <a:pPr>
              <a:spcBef>
                <a:spcPts val="1200"/>
              </a:spcBef>
              <a:defRPr sz="1400" b="1">
                <a:latin typeface="Arial"/>
              </a:defRPr>
            </a:pPr>
            <a:r>
              <a:t>Tk+1 = α · Tk   (avec α = 0.90)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Assure une exploration large au début et une convergence vers le minimum global à la fin.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600200"/>
            <a:ext cx="521208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Hyperparamètres de Réglage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Température Initiale (T₀) : Fixée à 100.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Nombre d'itérations (N_iter) : 1000 itérations par cycle.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Coordonnées Spatiales : Baie × Stack × Tier.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29107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Soutenance PFE — Master D3SI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Contexte &amp; Problématique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67400" y="6291072"/>
            <a:ext cx="1039367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État de l'Art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992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Architecture &amp; Conception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Implémentation &amp; Algorithmes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496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Résultats &amp; Évaluations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174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Conclusion &amp; Perspectives</a:t>
            </a:r>
          </a:p>
        </p:txBody>
      </p:sp>
    </p:spTree>
  </p:cSld>
  <p:clrMapOvr>
    <a:masterClrMapping/>
  </p:clrMapOvr>
  <p:transition spee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3 · ARCHITECTURE &amp; CONCEPTION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Arial"/>
              </a:defRPr>
            </a:pPr>
            <a:r>
              <a:t>Conception : Architecture &amp; Base de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4572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m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Architecture Microservices Asynchrone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Ingestion temps réel : Publication asynchrone des images Edge vers Apache Kafka.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Découplage IA / API : Un worker consomme Kafka pour exécuter YOLO/OCR sans bloquer l'API.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600200"/>
            <a:ext cx="521208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178308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Structure Relationnelle &amp; REST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Tables (Postgres) : Containers, Manifests et YardState.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API Flask : Points d'accès GET/POST pour la détection et l'optimisation.</a:t>
            </a:r>
          </a:p>
        </p:txBody>
      </p:sp>
      <p:pic>
        <p:nvPicPr>
          <p:cNvPr id="14" name="Picture 13" descr="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657600"/>
            <a:ext cx="1463040" cy="14630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29107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Soutenance PFE — Master D3SI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Contexte &amp; Problématique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740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État de l'Art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79920" y="6291072"/>
            <a:ext cx="1039367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Architecture &amp; Conception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Implémentation &amp; Algorithmes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496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Résultats &amp; Évaluations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74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Conclusion &amp; Perspectives</a:t>
            </a:r>
          </a:p>
        </p:txBody>
      </p:sp>
    </p:spTree>
  </p:cSld>
  <p:clrMapOvr>
    <a:masterClrMapping/>
  </p:clrMapOvr>
  <p:transition spee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4 · IMPLÉMENTATION &amp; ALGORITHMES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Arial"/>
              </a:defRPr>
            </a:pPr>
            <a:r>
              <a:t>Algorithme "Segment-and-Stitch" (OCR Vertical)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4572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m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212080" cy="73152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123C"/>
                </a:solidFill>
              </a:defRPr>
            </a:pPr>
            <a:r>
              <a:t>Le Problème de l'OCR Vertical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Les matricules de conteneurs sont souvent imprimés verticaux.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Les moteurs OCR standards échouent car ils s'attendent à une lecture horizontale.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600200"/>
            <a:ext cx="521208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Les Étapes Clés de Résolution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1. Segmentation : Détection de contours et seuillage adaptatif d'Otsu.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2. Tri Y : Alignement des caractères de haut en bas.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3. Stitching : Découpage et réassemblage horizontal dans le bon ordre.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532120"/>
            <a:ext cx="9997135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1">
                <a:solidFill>
                  <a:srgbClr val="0A2540"/>
                </a:solidFill>
                <a:latin typeface="Arial"/>
              </a:defRPr>
            </a:pPr>
            <a:r>
              <a:t>La reconstruction horizontale des matricules verticaux pour l'OCR.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29107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Soutenance PFE — Master D3SI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Contexte &amp; Problématique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740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État de l'Art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992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Architecture &amp; Conception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6291072"/>
            <a:ext cx="1039367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Implémentation &amp; Algorithmes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496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Résultats &amp; Évaluations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74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Conclusion &amp; Perspectives</a:t>
            </a:r>
          </a:p>
        </p:txBody>
      </p:sp>
    </p:spTree>
  </p:cSld>
  <p:clrMapOvr>
    <a:masterClrMapping/>
  </p:clrMapOvr>
  <p:transition spee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4 · IMPLÉMENTATION &amp; ALGORITHMES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Arial"/>
              </a:defRPr>
            </a:pPr>
            <a:r>
              <a:t>OCR Optimisé : Early Exit &amp; Kafka Worker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4572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m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Early Exit &amp; Multi-pipelines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Application successive de 6 filtres d'images.</a:t>
            </a:r>
          </a:p>
          <a:p>
            <a:r>
              <a:t>• Dès qu'un code valide regex (ex: MSCU 1234567) est lu avec confiance &gt; 25%, le pipeline s'arrête.</a:t>
            </a:r>
          </a:p>
          <a:p>
            <a:pPr>
              <a:spcBef>
                <a:spcPts val="1000"/>
              </a:spcBef>
              <a:defRPr sz="1300" b="1">
                <a:solidFill>
                  <a:srgbClr val="0F766E"/>
                </a:solidFill>
              </a:defRPr>
            </a:pPr>
            <a:r>
              <a:t>• Gain : Latence moyenne réduite de 8.0s à 1.3s par conteneur.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600200"/>
            <a:ext cx="521208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Multi-Threading &amp; Backpressure</a:t>
            </a:r>
          </a:p>
          <a:p>
            <a:pPr>
              <a:spcBef>
                <a:spcPts val="1400"/>
              </a:spcBef>
              <a:defRPr sz="1300">
                <a:solidFill>
                  <a:srgbClr val="1E293B"/>
                </a:solidFill>
              </a:defRPr>
            </a:pPr>
            <a:r>
              <a:t>• Un thread lit Kafka en continu, un second exécute l'IA.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Contre-pression : Si la file interne sature, les trames vidéo obsolètes sont automatiquement rejetées.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532120"/>
            <a:ext cx="9997135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1">
                <a:solidFill>
                  <a:srgbClr val="0A2540"/>
                </a:solidFill>
                <a:latin typeface="Arial"/>
              </a:defRPr>
            </a:pPr>
            <a:r>
              <a:t>Une réduction drastique de latence de 8s à 1.3s par conteneur.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29107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Soutenance PFE — Master D3SI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Contexte &amp; Problématique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740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État de l'Art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992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Architecture &amp; Conception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6291072"/>
            <a:ext cx="1039367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Implémentation &amp; Algorithmes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496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Résultats &amp; Évaluations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74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Conclusion &amp; Perspectives</a:t>
            </a:r>
          </a:p>
        </p:txBody>
      </p:sp>
    </p:spTree>
  </p:cSld>
  <p:clrMapOvr>
    <a:masterClrMapping/>
  </p:clrMapOvr>
  <p:transition spee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4 · IMPLÉMENTATION &amp; ALGORITHMES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Arial"/>
              </a:defRPr>
            </a:pPr>
            <a:r>
              <a:t>Jumeau Numérique 3D &amp; Supervision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4572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m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WebGL Interactive (Three.js)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Canvas WebGL intégré dans Streamlit via une iframe sécurisée.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Instanciation dynamique de boîtes 3D (BoxGeometry) modélisant l'état du parc.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Guidage visuel interactif en temps réel pour le placement de Yard.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600200"/>
            <a:ext cx="5212080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1783080"/>
            <a:ext cx="4846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6CC"/>
                </a:solidFill>
              </a:defRPr>
            </a:pPr>
            <a:r>
              <a:t>Supervision du Parc en Temps Réel</a:t>
            </a:r>
          </a:p>
        </p:txBody>
      </p:sp>
      <p:pic>
        <p:nvPicPr>
          <p:cNvPr id="14" name="Picture 13" descr="yard_3d_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377440"/>
            <a:ext cx="2651760" cy="265176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29107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Soutenance PFE — Master D3SI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Contexte &amp; Problématique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740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État de l'Art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992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Architecture &amp; Conception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6291072"/>
            <a:ext cx="1039367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Implémentation &amp; Algorithmes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496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Résultats &amp; Évaluations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74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Conclusion &amp; Perspectives</a:t>
            </a:r>
          </a:p>
        </p:txBody>
      </p:sp>
    </p:spTree>
  </p:cSld>
  <p:clrMapOvr>
    <a:masterClrMapping/>
  </p:clrMapOvr>
  <p:transition spee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5 · RÉSULTATS &amp; ÉVALUATIONS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Arial"/>
              </a:defRPr>
            </a:pPr>
            <a:r>
              <a:t>Résultats Expérimentaux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4572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m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737360"/>
            <a:ext cx="3413455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3413455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30476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A2540"/>
                </a:solidFill>
                <a:latin typeface="Arial"/>
              </a:defRPr>
            </a:pPr>
            <a:r>
              <a:t>96,1%</a:t>
            </a:r>
          </a:p>
          <a:p>
            <a:pPr algn="ctr">
              <a:spcBef>
                <a:spcPts val="1400"/>
              </a:spcBef>
              <a:defRPr sz="1500" b="1">
                <a:solidFill>
                  <a:srgbClr val="0A2540"/>
                </a:solidFill>
              </a:defRPr>
            </a:pPr>
            <a:r>
              <a:t>Précision mAP@0.5</a:t>
            </a:r>
          </a:p>
          <a:p>
            <a:pPr algn="ctr"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(Détection YOLOv8)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737360"/>
            <a:ext cx="3413455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3413455" cy="7315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0476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066CC"/>
                </a:solidFill>
                <a:latin typeface="Arial"/>
              </a:defRPr>
            </a:pPr>
            <a:r>
              <a:t>85%</a:t>
            </a:r>
          </a:p>
          <a:p>
            <a:pPr algn="ctr">
              <a:spcBef>
                <a:spcPts val="1400"/>
              </a:spcBef>
              <a:defRPr sz="1500" b="1">
                <a:solidFill>
                  <a:srgbClr val="0A2540"/>
                </a:solidFill>
              </a:defRPr>
            </a:pPr>
            <a:r>
              <a:t>Taux de réussite OCR</a:t>
            </a:r>
          </a:p>
          <a:p>
            <a:pPr algn="ctr"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(Horizontal + Vertical)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37360"/>
            <a:ext cx="3413455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737360"/>
            <a:ext cx="341345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103120"/>
            <a:ext cx="30476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F766E"/>
                </a:solidFill>
                <a:latin typeface="Arial"/>
              </a:defRPr>
            </a:pPr>
            <a:r>
              <a:t>≤ 12%</a:t>
            </a:r>
          </a:p>
          <a:p>
            <a:pPr algn="ctr">
              <a:spcBef>
                <a:spcPts val="1400"/>
              </a:spcBef>
              <a:defRPr sz="1500" b="1">
                <a:solidFill>
                  <a:srgbClr val="0A2540"/>
                </a:solidFill>
              </a:defRPr>
            </a:pPr>
            <a:r>
              <a:t>Taux de Re-handling</a:t>
            </a:r>
          </a:p>
          <a:p>
            <a:pPr algn="ctr">
              <a:spcBef>
                <a:spcPts val="600"/>
              </a:spcBef>
              <a:defRPr sz="1200">
                <a:solidFill>
                  <a:srgbClr val="64748B"/>
                </a:solidFill>
              </a:defRPr>
            </a:pPr>
            <a:r>
              <a:t>(À 95% de remplissage)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5532120"/>
            <a:ext cx="9997135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1">
                <a:solidFill>
                  <a:srgbClr val="0A2540"/>
                </a:solidFill>
                <a:latin typeface="Arial"/>
              </a:defRPr>
            </a:pPr>
            <a:r>
              <a:t>Réduction de plus de 75% des doubles manipulations comparé au système manuel existant.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29107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Soutenance PFE — Master D3SI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Contexte &amp; Problématique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740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État de l'Art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992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Architecture &amp; Conception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Implémentation &amp; Algorithmes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04960" y="6291072"/>
            <a:ext cx="1039367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Résultats &amp; Évaluations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174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Conclusion &amp; Perspectives</a:t>
            </a:r>
          </a:p>
        </p:txBody>
      </p:sp>
    </p:spTree>
  </p:cSld>
  <p:clrMapOvr>
    <a:masterClrMapping/>
  </p:clrMapOvr>
  <p:transition spee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5 · RÉSULTATS &amp; ÉVALUATIONS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Arial"/>
              </a:defRPr>
            </a:pPr>
            <a:r>
              <a:t>Déploiement Conteneurisé (Docker)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4572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m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Architecture des Conteneurs</a:t>
            </a:r>
          </a:p>
          <a:p>
            <a:pPr>
              <a:spcBef>
                <a:spcPts val="1000"/>
              </a:spcBef>
              <a:defRPr sz="1300">
                <a:solidFill>
                  <a:srgbClr val="1E293B"/>
                </a:solidFill>
              </a:defRPr>
            </a:pPr>
            <a:r>
              <a:t>• Services Isolés : 5 conteneurs Docker orchestrés via Docker Compose.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Postgres : Persistance des données relationnelles.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Kafka &amp; Zookeeper : Streaming vidéo et messages temps réel.</a:t>
            </a:r>
          </a:p>
          <a:p>
            <a:pPr>
              <a:spcBef>
                <a:spcPts val="800"/>
              </a:spcBef>
              <a:defRPr sz="1300">
                <a:solidFill>
                  <a:srgbClr val="1E293B"/>
                </a:solidFill>
              </a:defRPr>
            </a:pPr>
            <a:r>
              <a:t>• Flask API &amp; Worker IA : Inférence et logique métier.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600200"/>
            <a:ext cx="5212080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600200"/>
            <a:ext cx="521208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178308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Avantages Industriels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Isolation Complète : Évite les conflits de dépendances CUDA/Python.</a:t>
            </a:r>
          </a:p>
          <a:p>
            <a:pPr>
              <a:spcBef>
                <a:spcPts val="1200"/>
              </a:spcBef>
              <a:defRPr sz="1300">
                <a:solidFill>
                  <a:srgbClr val="1E293B"/>
                </a:solidFill>
              </a:defRPr>
            </a:pPr>
            <a:r>
              <a:t>• Scalabilité et Portabilité : Déploiement facile et réplication des workers IA selon la charge du 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5532120"/>
            <a:ext cx="9997135" cy="502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 i="1">
                <a:solidFill>
                  <a:srgbClr val="0A2540"/>
                </a:solidFill>
                <a:latin typeface="Arial"/>
              </a:defRPr>
            </a:pPr>
            <a:r>
              <a:t>Une portabilité et scalabilité totales via Docker Compose.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29107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Soutenance PFE — Master D3SI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Contexte &amp; Problématique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740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État de l'Art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992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Architecture &amp; Conception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Implémentation &amp; Algorithmes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04960" y="6291072"/>
            <a:ext cx="1039367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Résultats &amp; Évaluations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174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Conclusion &amp; Perspectives</a:t>
            </a:r>
          </a:p>
        </p:txBody>
      </p:sp>
    </p:spTree>
  </p:cSld>
  <p:clrMapOvr>
    <a:masterClrMapping/>
  </p:clrMapOvr>
  <p:transition spee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66CC"/>
                </a:solidFill>
                <a:latin typeface="Arial"/>
              </a:defRPr>
            </a:pPr>
            <a:r>
              <a:t>6 · CONCLUSION 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Arial"/>
              </a:defRPr>
            </a:pPr>
            <a:r>
              <a:t>Conclusion &amp; Perspectives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1371600" cy="54864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4572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mar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320040"/>
            <a:ext cx="777240" cy="777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600200"/>
            <a:ext cx="52120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600200"/>
            <a:ext cx="5212080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8308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766E"/>
                </a:solidFill>
              </a:defRPr>
            </a:pPr>
            <a:r>
              <a:t>Bilan des Réalisations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• Pipeline de vision par ordinateur YOLOv8 + EasyOCR opérationnel.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Moteur combinatoire (Recuit Simulé) validé et fonctionnel.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Architecture Kafka + Flask résiliente et temps réel.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Supervision Jumeau Numérique 3D Streamlit &amp; Three.js.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1600200"/>
            <a:ext cx="52120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8095" y="1600200"/>
            <a:ext cx="5212080" cy="7315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0975" y="178308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2540"/>
                </a:solidFill>
              </a:defRPr>
            </a:pPr>
            <a:r>
              <a:t>Perspectives &amp; Remerciements</a:t>
            </a:r>
          </a:p>
          <a:p>
            <a:pPr>
              <a:spcBef>
                <a:spcPts val="1000"/>
              </a:spcBef>
              <a:defRPr sz="1250">
                <a:solidFill>
                  <a:srgbClr val="1E293B"/>
                </a:solidFill>
              </a:defRPr>
            </a:pPr>
            <a:r>
              <a:t>• Edge Computing : Déploiement sur cartes NVIDIA Jetson sur portiques.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Modèle OCR Personnalisé : Entraînement CRNN dédié aux conteneurs.</a:t>
            </a:r>
          </a:p>
          <a:p>
            <a:pPr>
              <a:spcBef>
                <a:spcPts val="800"/>
              </a:spcBef>
              <a:defRPr sz="1250">
                <a:solidFill>
                  <a:srgbClr val="1E293B"/>
                </a:solidFill>
              </a:defRPr>
            </a:pPr>
            <a:r>
              <a:t>• Intégration TOS : Synchronisation directe avec le TOS de Marsa Maroc.</a:t>
            </a:r>
          </a:p>
          <a:p>
            <a:pPr>
              <a:spcBef>
                <a:spcPts val="800"/>
              </a:spcBef>
              <a:defRPr sz="1250" b="1">
                <a:solidFill>
                  <a:srgbClr val="0A2540"/>
                </a:solidFill>
              </a:defRPr>
            </a:pPr>
            <a:r>
              <a:t>• Remerciements à mon encadrant académique Pr. Ismail Kich et professionnel M. Mohamed Qodsi.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29107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Soutenance PFE — Master D3SI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Contexte &amp; Problématique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740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État de l'Art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992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Architecture &amp; Conception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Implémentation &amp; Algorithmes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496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Résultats &amp; Évaluations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17480" y="6291072"/>
            <a:ext cx="1039367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Conclusion &amp; Perspectives</a:t>
            </a:r>
          </a:p>
        </p:txBody>
      </p:sp>
    </p:spTree>
  </p:cSld>
  <p:clrMapOvr>
    <a:masterClrMapping/>
  </p:clrMapOvr>
  <p:transition spee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280160"/>
            <a:ext cx="9997135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66CC"/>
                </a:solidFill>
                <a:latin typeface="Arial"/>
              </a:defRPr>
            </a:pPr>
            <a:r>
              <a:t>SOUTENANCE DE PROJET DE FIN D'ÉTUDES</a:t>
            </a:r>
          </a:p>
          <a:p>
            <a:pPr algn="ctr">
              <a:spcBef>
                <a:spcPts val="1600"/>
              </a:spcBef>
              <a:defRPr sz="3200" b="1">
                <a:solidFill>
                  <a:srgbClr val="0A2540"/>
                </a:solidFill>
                <a:latin typeface="Arial"/>
              </a:defRPr>
            </a:pPr>
            <a:r>
              <a:t>Merci de votre attention</a:t>
            </a:r>
          </a:p>
          <a:p>
            <a:pPr algn="ctr">
              <a:spcBef>
                <a:spcPts val="1200"/>
              </a:spcBef>
              <a:defRPr sz="1800" b="1">
                <a:solidFill>
                  <a:srgbClr val="0066CC"/>
                </a:solidFill>
                <a:latin typeface="Arial"/>
              </a:defRPr>
            </a:pPr>
            <a:r>
              <a:t>Avez-vous des questions ?</a:t>
            </a:r>
          </a:p>
          <a:p>
            <a:pPr algn="ctr">
              <a:spcBef>
                <a:spcPts val="28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FAJRI Youssef — Master D3SI — USMS / FPBM — Marsa Maroc (2025-2026)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291072"/>
            <a:ext cx="3840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Soutenance PFE — Master D3SI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Contexte &amp; Problématique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6740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État de l'Art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992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Architecture &amp; Conception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Implémentation &amp; Algorithmes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4960" y="6291072"/>
            <a:ext cx="103936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Arial"/>
              </a:defRPr>
            </a:pPr>
            <a:r>
              <a:t>Résultats &amp; Évaluations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317480" y="6291072"/>
            <a:ext cx="1039367" cy="320040"/>
          </a:xfrm>
          <a:prstGeom prst="roundRect">
            <a:avLst/>
          </a:prstGeom>
          <a:solidFill>
            <a:srgbClr val="EBF5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Conclusion &amp; Perspectives</a:t>
            </a:r>
          </a:p>
        </p:txBody>
      </p:sp>
    </p:spTree>
  </p:cSld>
  <p:clrMapOvr>
    <a:masterClrMapping/>
  </p:clrMapOvr>
  <p:transition spee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